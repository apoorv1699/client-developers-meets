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jpeg"/><Relationship Id="rId4" Type="http://schemas.openxmlformats.org/officeDocument/2006/relationships/image" Target="../media/image-1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4C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594360"/>
            <a:ext cx="1005840" cy="100584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C&amp;D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78308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Where Client and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Developer Meet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11480" y="36118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0F0ED"/>
                </a:solidFill>
              </a:rPr>
              <a:t>A two-sided platform connecting clients who need software built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0F0ED"/>
                </a:solidFill>
              </a:rPr>
              <a:t>with developers who build it — powered by Spring Boot &amp; MySQL.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32704" y="283464"/>
            <a:ext cx="3319272" cy="1618488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320040"/>
            <a:ext cx="3246120" cy="1545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32704" y="1975104"/>
            <a:ext cx="3319272" cy="1618488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11680"/>
            <a:ext cx="3246120" cy="154533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32704" y="3666744"/>
            <a:ext cx="3319272" cy="1216152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703320"/>
            <a:ext cx="3246120" cy="1143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1480" y="4663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PG-DAC Project  |  CDAC Delhi  |  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01  —  THE PROBLEM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C&amp;D Platform  —  Problem Statement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the right dev is broken.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For clients and developers alike, the current hiring landscape is noisy, costly, and disconnected.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65176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265176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</a:rPr>
              <a:t>Clients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0632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</a:rPr>
              <a:t>No curated place to find verified developers with real portfolios and transparent rates.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91840" y="1920240"/>
            <a:ext cx="265176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920240"/>
            <a:ext cx="265176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2011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2900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</a:rPr>
              <a:t>Developers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30632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</a:rPr>
              <a:t>No simple way to present themselves professionally and attract quality project leads.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1920240"/>
            <a:ext cx="265176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920240"/>
            <a:ext cx="265176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2011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6364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C1E"/>
                </a:solidFill>
              </a:rPr>
              <a:t>Communication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3640" y="30632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</a:rPr>
              <a:t>Conversations scattered across emails and external tools — no unified thread per project.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02  —  OUR SOLUTION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C&amp;D Platform  —  Solution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C&amp;D — a premium two-sided marketplace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software hiring.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01168" cy="20116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Browse curated developer profiles with skills, rates &amp; availability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201168" cy="20116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404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Send project inquiries directly to developers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26664"/>
            <a:ext cx="201168" cy="20116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93522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Built-in threaded chat — no external tools needed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57016"/>
            <a:ext cx="201168" cy="20116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46557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Developers manage portfolio projects &amp; attract leads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87368"/>
            <a:ext cx="201168" cy="20116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9959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Role-based dashboards for Clients and Developers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84064" y="603504"/>
            <a:ext cx="3822192" cy="1856232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640080"/>
            <a:ext cx="3749040" cy="178308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084064" y="2569464"/>
            <a:ext cx="3822192" cy="1856232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606040"/>
            <a:ext cx="374904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4C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03  —  TECH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C&amp;D Platform  —  Technologies Used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enterprise-grade Java technologies.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417320"/>
            <a:ext cx="1920240" cy="1463040"/>
          </a:xfrm>
          <a:prstGeom prst="rect">
            <a:avLst/>
          </a:prstGeom>
          <a:solidFill>
            <a:srgbClr val="0D7377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1417320"/>
            <a:ext cx="1920240" cy="64008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0624" y="201168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Spring Boot 3.2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" y="242316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F0ED"/>
                </a:solidFill>
              </a:rPr>
              <a:t>Backend Framework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96312" y="1417320"/>
            <a:ext cx="1920240" cy="1463040"/>
          </a:xfrm>
          <a:prstGeom prst="rect">
            <a:avLst/>
          </a:prstGeom>
          <a:solidFill>
            <a:srgbClr val="0D7377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496312" y="1417320"/>
            <a:ext cx="1920240" cy="64008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14" name="Text 12"/>
          <p:cNvSpPr/>
          <p:nvPr/>
        </p:nvSpPr>
        <p:spPr>
          <a:xfrm>
            <a:off x="2496312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9464" y="201168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Java 21 (LTS)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9464" y="242316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F0ED"/>
                </a:solidFill>
              </a:rPr>
              <a:t>Language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45152" y="1417320"/>
            <a:ext cx="1920240" cy="1463040"/>
          </a:xfrm>
          <a:prstGeom prst="rect">
            <a:avLst/>
          </a:prstGeom>
          <a:solidFill>
            <a:srgbClr val="0D7377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645152" y="1417320"/>
            <a:ext cx="1920240" cy="64008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19" name="Text 17"/>
          <p:cNvSpPr/>
          <p:nvPr/>
        </p:nvSpPr>
        <p:spPr>
          <a:xfrm>
            <a:off x="4645152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18304" y="201168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Hibernate / JPA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18304" y="242316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F0ED"/>
                </a:solidFill>
              </a:rPr>
              <a:t>ORM &amp; Persistence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93992" y="1417320"/>
            <a:ext cx="1920240" cy="1463040"/>
          </a:xfrm>
          <a:prstGeom prst="rect">
            <a:avLst/>
          </a:prstGeom>
          <a:solidFill>
            <a:srgbClr val="0D7377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93992" y="1417320"/>
            <a:ext cx="1920240" cy="64008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24" name="Text 22"/>
          <p:cNvSpPr/>
          <p:nvPr/>
        </p:nvSpPr>
        <p:spPr>
          <a:xfrm>
            <a:off x="6793992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67144" y="201168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MySQL 8.0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67144" y="242316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F0ED"/>
                </a:solidFill>
              </a:rPr>
              <a:t>Database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108960"/>
            <a:ext cx="1920240" cy="1463040"/>
          </a:xfrm>
          <a:prstGeom prst="rect">
            <a:avLst/>
          </a:prstGeom>
          <a:solidFill>
            <a:srgbClr val="0D7377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47472" y="3108960"/>
            <a:ext cx="1920240" cy="64008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20624" y="370332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Thymeleaf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0624" y="411480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F0ED"/>
                </a:solidFill>
              </a:rPr>
              <a:t>Template Engine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96312" y="3108960"/>
            <a:ext cx="1920240" cy="1463040"/>
          </a:xfrm>
          <a:prstGeom prst="rect">
            <a:avLst/>
          </a:prstGeom>
          <a:solidFill>
            <a:srgbClr val="0D7377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496312" y="3108960"/>
            <a:ext cx="1920240" cy="64008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34" name="Text 32"/>
          <p:cNvSpPr/>
          <p:nvPr/>
        </p:nvSpPr>
        <p:spPr>
          <a:xfrm>
            <a:off x="2496312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569464" y="370332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Vanilla JS + CSS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569464" y="411480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F0ED"/>
                </a:solidFill>
              </a:rPr>
              <a:t>Frontend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45152" y="3108960"/>
            <a:ext cx="1920240" cy="1463040"/>
          </a:xfrm>
          <a:prstGeom prst="rect">
            <a:avLst/>
          </a:prstGeom>
          <a:solidFill>
            <a:srgbClr val="0D7377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45152" y="3108960"/>
            <a:ext cx="1920240" cy="64008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39" name="Text 37"/>
          <p:cNvSpPr/>
          <p:nvPr/>
        </p:nvSpPr>
        <p:spPr>
          <a:xfrm>
            <a:off x="4645152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718304" y="370332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Bean Validation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18304" y="411480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F0ED"/>
                </a:solidFill>
              </a:rPr>
              <a:t>Request Validation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93992" y="3108960"/>
            <a:ext cx="1920240" cy="1463040"/>
          </a:xfrm>
          <a:prstGeom prst="rect">
            <a:avLst/>
          </a:prstGeom>
          <a:solidFill>
            <a:srgbClr val="0D7377">
              <a:alpha val="3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793992" y="3108960"/>
            <a:ext cx="1920240" cy="64008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44" name="Text 42"/>
          <p:cNvSpPr/>
          <p:nvPr/>
        </p:nvSpPr>
        <p:spPr>
          <a:xfrm>
            <a:off x="6793992" y="3200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867144" y="3703320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Maven Wrapper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867144" y="411480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F0ED"/>
                </a:solidFill>
              </a:rPr>
              <a:t>Build Tool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04  —  SYSTEM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C&amp;D Platform  —  MVC Layered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MVC layered architecture.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8321040" cy="47548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3258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Presentation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13258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Thymeleaf HTML templates + Custom CSS / Vanilla JS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1911096"/>
            <a:ext cx="8092440" cy="475488"/>
          </a:xfrm>
          <a:prstGeom prst="rect">
            <a:avLst/>
          </a:prstGeom>
          <a:solidFill>
            <a:srgbClr val="1A8A8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1109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/ Controller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38728" y="1911096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6 REST Controllers  (@RestController + @RequestMapping)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" y="2496312"/>
            <a:ext cx="7863840" cy="475488"/>
          </a:xfrm>
          <a:prstGeom prst="rect">
            <a:avLst/>
          </a:prstGeom>
          <a:solidFill>
            <a:srgbClr val="2BA3A0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249631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Service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48456" y="249631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5 Service classes — all business logic lives here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0664" y="3081528"/>
            <a:ext cx="7635240" cy="475488"/>
          </a:xfrm>
          <a:prstGeom prst="rect">
            <a:avLst/>
          </a:prstGeom>
          <a:solidFill>
            <a:srgbClr val="3DBBB8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" y="30815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Repository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58184" y="3081528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8 JpaRepository interfaces — zero hand-written SQL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0392" y="3666744"/>
            <a:ext cx="7406640" cy="475488"/>
          </a:xfrm>
          <a:prstGeom prst="rect">
            <a:avLst/>
          </a:prstGeom>
          <a:solidFill>
            <a:srgbClr val="55CECE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984" y="366674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Entity /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67912" y="366674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8 @Entity JPA classes mapped to MySQL tables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0120" y="4251960"/>
            <a:ext cx="7178040" cy="4754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1124712" y="42519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MySQL Database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77640" y="425196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cd_platform — 8 normalised tables, seeded via seed.sql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869680" y="1325880"/>
            <a:ext cx="0" cy="3511296"/>
          </a:xfrm>
          <a:prstGeom prst="line">
            <a:avLst/>
          </a:prstGeom>
          <a:noFill/>
          <a:ln w="25400">
            <a:solidFill>
              <a:srgbClr val="0D7377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 rot="5400000">
            <a:off x="868680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7377"/>
                </a:solidFill>
              </a:rPr>
              <a:t>Data Flow ↓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05  —  DATABASE DESIGN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C&amp;D Platform  —  MySQL Schema — cd_platform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normalised tables in MySQL.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280160"/>
            <a:ext cx="64008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31673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" y="1627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role, email, password_hash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80160"/>
            <a:ext cx="64008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31673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developer_profiles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1627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name, title, bio, skills, rate, location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1945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194560"/>
            <a:ext cx="64008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" y="223113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portfolio_projects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" y="25420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developer_id, title, description, tech_stack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94560"/>
            <a:ext cx="64008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223113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client_profiles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9472" y="25420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user_id, company_name, industry, budget_range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1089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108960"/>
            <a:ext cx="64008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576072" y="314553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inquiries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6072" y="3456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client_id, developer_id, project_summary, status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1089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108960"/>
            <a:ext cx="64008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4919472" y="314553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chat_threads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19472" y="3456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updated_at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40233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4023360"/>
            <a:ext cx="64008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576072" y="405993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chat_participants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76072" y="4370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thread_id, user_id  (composite PK)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40233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4023360"/>
            <a:ext cx="64008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7" name="Text 35"/>
          <p:cNvSpPr/>
          <p:nvPr/>
        </p:nvSpPr>
        <p:spPr>
          <a:xfrm>
            <a:off x="4919472" y="405993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chat_messages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19472" y="4370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thread_id, sender_id, content, created_at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4C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06  —  REST API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C&amp;D Platform  —  Backend API Reference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16+ REST endpoints across 5 domains.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1572768" cy="3291840"/>
          </a:xfrm>
          <a:prstGeom prst="rect">
            <a:avLst/>
          </a:prstGeom>
          <a:solidFill>
            <a:srgbClr val="0D7377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325880"/>
            <a:ext cx="1572768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258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18745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86968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93192" y="231343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86968" y="2313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/signup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39112" y="1325880"/>
            <a:ext cx="1572768" cy="3291840"/>
          </a:xfrm>
          <a:prstGeom prst="rect">
            <a:avLst/>
          </a:prstGeom>
          <a:solidFill>
            <a:srgbClr val="0D7377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039112" y="1325880"/>
            <a:ext cx="1572768" cy="457200"/>
          </a:xfrm>
          <a:prstGeom prst="rect">
            <a:avLst/>
          </a:prstGeom>
          <a:solidFill>
            <a:srgbClr val="14A098"/>
          </a:solidFill>
          <a:ln/>
        </p:spPr>
      </p:sp>
      <p:sp>
        <p:nvSpPr>
          <p:cNvPr id="16" name="Text 14"/>
          <p:cNvSpPr/>
          <p:nvPr/>
        </p:nvSpPr>
        <p:spPr>
          <a:xfrm>
            <a:off x="2084832" y="13258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/api/developers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12264" y="18745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0604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12264" y="231343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06040" y="2313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112264" y="2752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06040" y="2752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12264" y="319125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06040" y="31912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12264" y="36301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06040" y="3630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/{id}/portfolio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12264" y="406908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0604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/{id}/portfolio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58184" y="1325880"/>
            <a:ext cx="1572768" cy="3291840"/>
          </a:xfrm>
          <a:prstGeom prst="rect">
            <a:avLst/>
          </a:prstGeom>
          <a:solidFill>
            <a:srgbClr val="0D7377">
              <a:alpha val="2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758184" y="1325880"/>
            <a:ext cx="1572768" cy="457200"/>
          </a:xfrm>
          <a:prstGeom prst="rect">
            <a:avLst/>
          </a:prstGeom>
          <a:solidFill>
            <a:srgbClr val="3DBBB8"/>
          </a:solidFill>
          <a:ln/>
        </p:spPr>
      </p:sp>
      <p:sp>
        <p:nvSpPr>
          <p:cNvPr id="31" name="Text 29"/>
          <p:cNvSpPr/>
          <p:nvPr/>
        </p:nvSpPr>
        <p:spPr>
          <a:xfrm>
            <a:off x="3803904" y="13258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/api/clients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31336" y="18745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25112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31336" y="231343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325112" y="2313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831336" y="2752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325112" y="2752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/{id}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77256" y="1325880"/>
            <a:ext cx="1572768" cy="3291840"/>
          </a:xfrm>
          <a:prstGeom prst="rect">
            <a:avLst/>
          </a:prstGeom>
          <a:solidFill>
            <a:srgbClr val="0D7377">
              <a:alpha val="2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477256" y="1325880"/>
            <a:ext cx="1572768" cy="457200"/>
          </a:xfrm>
          <a:prstGeom prst="rect">
            <a:avLst/>
          </a:prstGeom>
          <a:solidFill>
            <a:srgbClr val="55CECE"/>
          </a:solidFill>
          <a:ln/>
        </p:spPr>
      </p:sp>
      <p:sp>
        <p:nvSpPr>
          <p:cNvPr id="40" name="Text 38"/>
          <p:cNvSpPr/>
          <p:nvPr/>
        </p:nvSpPr>
        <p:spPr>
          <a:xfrm>
            <a:off x="5522976" y="13258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/api/inquiries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50408" y="18745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44184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96328" y="1325880"/>
            <a:ext cx="1572768" cy="3291840"/>
          </a:xfrm>
          <a:prstGeom prst="rect">
            <a:avLst/>
          </a:prstGeom>
          <a:solidFill>
            <a:srgbClr val="0D7377">
              <a:alpha val="2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196328" y="1325880"/>
            <a:ext cx="1572768" cy="457200"/>
          </a:xfrm>
          <a:prstGeom prst="rect">
            <a:avLst/>
          </a:prstGeom>
          <a:solidFill>
            <a:srgbClr val="D0F0ED"/>
          </a:solidFill>
          <a:ln/>
        </p:spPr>
      </p:sp>
      <p:sp>
        <p:nvSpPr>
          <p:cNvPr id="45" name="Text 43"/>
          <p:cNvSpPr/>
          <p:nvPr/>
        </p:nvSpPr>
        <p:spPr>
          <a:xfrm>
            <a:off x="7242048" y="13258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269480" y="18745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763256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/threads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269480" y="231343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763256" y="2313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/threads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269480" y="2752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0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763256" y="2752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/threads/{id}/messages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269480" y="319125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763256" y="31912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/threads/{id}/messages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07  —  CLIENT 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C&amp;D Platform  —  Client User Experience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seamless journey from login to hired.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298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</a:rPr>
              <a:t>Login / Sign 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527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Role-based auth — Client or Developer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" y="1792224"/>
            <a:ext cx="4005072" cy="118872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0"/>
            <a:ext cx="3931920" cy="11155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65760" y="3127248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8680" y="31455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</a:rPr>
              <a:t>Browse Developers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33741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Filter by skill, rate &amp; availability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9184" y="3639312"/>
            <a:ext cx="4005072" cy="118872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75888"/>
            <a:ext cx="3931920" cy="111556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892040" y="1280160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0" name="Text 16"/>
          <p:cNvSpPr/>
          <p:nvPr/>
        </p:nvSpPr>
        <p:spPr>
          <a:xfrm>
            <a:off x="489204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394960" y="1298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</a:rPr>
              <a:t>Client Dashboard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394960" y="1527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Track conversations, briefs &amp; milestones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855464" y="1792224"/>
            <a:ext cx="4005072" cy="118872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828800"/>
            <a:ext cx="3931920" cy="111556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892040" y="3127248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6" name="Text 21"/>
          <p:cNvSpPr/>
          <p:nvPr/>
        </p:nvSpPr>
        <p:spPr>
          <a:xfrm>
            <a:off x="489204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394960" y="31455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E"/>
                </a:solidFill>
              </a:rPr>
              <a:t>Chat Inbox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394960" y="33741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Threaded real-time style messaging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855464" y="3639312"/>
            <a:ext cx="4005072" cy="118872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675888"/>
            <a:ext cx="3931920" cy="11155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08  —  DEVELOPER 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C&amp;D Platform  —  Developer User Experience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Developers showcase, manage, and connect.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</a:rPr>
              <a:t>01  Profile Editor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" y="1609344"/>
            <a:ext cx="2816352" cy="1380744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645920"/>
            <a:ext cx="2743200" cy="1307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47472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Name, title, skills, rate, bio, availability — all editable in one form.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282696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</a:rPr>
              <a:t>02  Portfolio Manager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46120" y="1609344"/>
            <a:ext cx="2816352" cy="1380744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1645920"/>
            <a:ext cx="2743200" cy="1307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82696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Add and showcase past projects with tech stack and image.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217920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</a:rPr>
              <a:t>03  Chat Inbox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181344" y="1609344"/>
            <a:ext cx="2816352" cy="1380744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2743200" cy="1307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3017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</a:rPr>
              <a:t>Respond to client messages and manage conversations.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347472" y="3657600"/>
            <a:ext cx="8449056" cy="868680"/>
          </a:xfrm>
          <a:prstGeom prst="rect">
            <a:avLst/>
          </a:prstGeom>
          <a:solidFill>
            <a:srgbClr val="D0F0ED"/>
          </a:solidFill>
          <a:ln/>
        </p:spPr>
      </p:sp>
      <p:sp>
        <p:nvSpPr>
          <p:cNvPr id="20" name="Text 15"/>
          <p:cNvSpPr/>
          <p:nvPr/>
        </p:nvSpPr>
        <p:spPr>
          <a:xfrm>
            <a:off x="384048" y="36576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</a:rPr>
              <a:t>Sign Up / Login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307592" y="36576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7377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2231136" y="36576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</a:rPr>
              <a:t>Profile Editor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3154680" y="36576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7377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078224" y="36576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</a:rPr>
              <a:t>Portfolio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001768" y="36576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7377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925312" y="36576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</a:rPr>
              <a:t>Respond to Leads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848856" y="36576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7377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7772400" y="36576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E"/>
                </a:solidFill>
              </a:rPr>
              <a:t>Chat with Clients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09  —  KEY FEATURES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C&amp;D Platform  —  Platform Highlights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one platform.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84048" y="1261872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261872"/>
            <a:ext cx="27432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353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" y="182880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</a:rPr>
              <a:t>Role-Based Auth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" y="2139696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Signup/login with CLIENT or DEVELOPER role. Each role gets its own dashboard and navigation.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10128" y="1261872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261872"/>
            <a:ext cx="27432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1353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19856" y="182880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</a:rPr>
              <a:t>Developer Discovery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19856" y="2139696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Browse all developers with quick-filter tags by skill (React, Spring Boot, MySQL, Vue…).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36208" y="1261872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1261872"/>
            <a:ext cx="27432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1353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45936" y="182880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</a:rPr>
              <a:t>Portfolio Showcase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45936" y="2139696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Developers add project cards with title, tech stack, description, and image URL.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3090672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3090672"/>
            <a:ext cx="27432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182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📬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93776" y="365760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</a:rPr>
              <a:t>Project Inquiries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" y="3968496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Clients send project summaries directly to developers via the inquiry API.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10128" y="3090672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10128" y="3090672"/>
            <a:ext cx="27432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3310128" y="3182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419856" y="365760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</a:rPr>
              <a:t>Threaded Chat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19856" y="3968496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Built-in two-pane messaging — thread list + active chat, with timestamped bubbles.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36208" y="3090672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36208" y="3090672"/>
            <a:ext cx="27432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4" name="Text 32"/>
          <p:cNvSpPr/>
          <p:nvPr/>
        </p:nvSpPr>
        <p:spPr>
          <a:xfrm>
            <a:off x="6236208" y="3182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345936" y="365760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1E"/>
                </a:solidFill>
              </a:rPr>
              <a:t>Fallback Mode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45936" y="3968496"/>
            <a:ext cx="2523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Frontend falls back to rich mock data if backend is unavailable — always demo-ready.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4C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10  —  IMPLEMENTATION HIGHLIGHTS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C&amp;D Platform  —  Key Design Decisions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engineering decisions.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160520" cy="1572768"/>
          </a:xfrm>
          <a:prstGeom prst="rect">
            <a:avLst/>
          </a:prstGeom>
          <a:solidFill>
            <a:srgbClr val="0D7377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325880"/>
            <a:ext cx="64008" cy="15727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3990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" y="1801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Two-Phase Dev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" y="21488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F0ED"/>
                </a:solidFill>
              </a:rPr>
              <a:t>Phase 1: full UI with mock data (always demo-ready). Phase 2: real APIs wired in — swap required minimal JS changes.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00600" y="1325880"/>
            <a:ext cx="4160520" cy="1572768"/>
          </a:xfrm>
          <a:prstGeom prst="rect">
            <a:avLst/>
          </a:prstGeom>
          <a:solidFill>
            <a:srgbClr val="0D7377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1325880"/>
            <a:ext cx="64008" cy="15727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4965192" y="13990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65192" y="1801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Transactional Signup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65192" y="21488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F0ED"/>
                </a:solidFill>
              </a:rPr>
              <a:t>@Transactional AuthService.signup() creates User + Profile + optional Portfolio in a single atomic DB transaction.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4160520" cy="1572768"/>
          </a:xfrm>
          <a:prstGeom prst="rect">
            <a:avLst/>
          </a:prstGeom>
          <a:solidFill>
            <a:srgbClr val="0D7377">
              <a:alpha val="2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108960"/>
            <a:ext cx="64008" cy="15727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18211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0352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DTO Pattern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" y="3931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F0ED"/>
                </a:solidFill>
              </a:rPr>
              <a:t>Java Records used as DTOs in all controllers. Decouples API contract from JPA entities, prevents lazy-load exceptions.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3108960"/>
            <a:ext cx="4160520" cy="1572768"/>
          </a:xfrm>
          <a:prstGeom prst="rect">
            <a:avLst/>
          </a:prstGeom>
          <a:solidFill>
            <a:srgbClr val="0D7377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800600" y="3108960"/>
            <a:ext cx="64008" cy="15727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4965192" y="318211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965192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 Fallback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65192" y="3931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0F0ED"/>
                </a:solidFill>
              </a:rPr>
              <a:t>fetch()-first with try/catch fallback to data.js mock data. Presentation-safe without a running backend.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11  —  TESTING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C&amp;D Platform  —  Test Results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manual test cases — all passed.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1737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80160"/>
            <a:ext cx="1737360" cy="10972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</a:rPr>
              <a:t>14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Test Cases Run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1280160"/>
            <a:ext cx="1737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40280" y="1280160"/>
            <a:ext cx="1737360" cy="10972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224028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</a:rPr>
              <a:t>14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24028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Tests Passed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1280160"/>
            <a:ext cx="1737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0" y="1280160"/>
            <a:ext cx="1737360" cy="10972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</a:rPr>
              <a:t>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11480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Tests Failed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1280160"/>
            <a:ext cx="1737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9320" y="1280160"/>
            <a:ext cx="1737360" cy="10972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</a:rPr>
              <a:t>100%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98932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Pass Rate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8412480" cy="233172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2743200"/>
              </a:tblGrid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Signup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role=DEVELOPER, email, password,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User + Profile created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Signup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role=CLIENT, companyName, budgetRange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User + Client profile created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— correct creds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email + password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userId, role, IDs returned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— wrong password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password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Error message returned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 Developers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/api/developers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Full developer list returned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Portfolio Project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/api/developers/1/portfolio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Project linked to developer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Chat Message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/api/chat/threads/1/messages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Message persisted and returned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Fallback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backend, navigate to /client/developers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Mock data renders correctly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12  —  FUTURE SCOPE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C&amp;D Platform  —  Planned Enhancements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 for C&amp;D.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2788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261872"/>
            <a:ext cx="2788920" cy="43891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26187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Short Term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" y="1938528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828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Spring Security + JWT token auth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" y="2624328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Role-based access control (RBAC)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" y="3310128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3200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WebSocket real-time chat (STOMP)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" y="3995928"/>
            <a:ext cx="109728" cy="10972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3886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Server-side search &amp; filter API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19272" y="1261872"/>
            <a:ext cx="2788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19272" y="1261872"/>
            <a:ext cx="2788920" cy="4389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3410712" y="126187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Medium Term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56432" y="193852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3639312" y="1828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File upload — resume PDFs &amp; portfolio images (S3)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56432" y="262432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3639312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Ratings &amp; reviews after project completion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56432" y="331012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3639312" y="3200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Email notifications via Spring Mail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56432" y="3995928"/>
            <a:ext cx="109728" cy="1097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3639312" y="3886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Pagination &amp; sorting on developer listing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1072" y="1261872"/>
            <a:ext cx="27889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91072" y="1261872"/>
            <a:ext cx="2788920" cy="43891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126187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Long Term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28232" y="1938528"/>
            <a:ext cx="109728" cy="109728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33" name="Text 31"/>
          <p:cNvSpPr/>
          <p:nvPr/>
        </p:nvSpPr>
        <p:spPr>
          <a:xfrm>
            <a:off x="6611112" y="1828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Payment integration (Stripe / Razorpay)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28232" y="2624328"/>
            <a:ext cx="109728" cy="109728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35" name="Text 33"/>
          <p:cNvSpPr/>
          <p:nvPr/>
        </p:nvSpPr>
        <p:spPr>
          <a:xfrm>
            <a:off x="6611112" y="25146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Admin dashboard — user mgmt &amp; analytics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28232" y="3310128"/>
            <a:ext cx="109728" cy="109728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37" name="Text 35"/>
          <p:cNvSpPr/>
          <p:nvPr/>
        </p:nvSpPr>
        <p:spPr>
          <a:xfrm>
            <a:off x="6611112" y="32004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Docker + Docker Compose packaging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28232" y="3995928"/>
            <a:ext cx="109728" cy="109728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39" name="Text 37"/>
          <p:cNvSpPr/>
          <p:nvPr/>
        </p:nvSpPr>
        <p:spPr>
          <a:xfrm>
            <a:off x="6611112" y="3886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Cloud deployment on AWS EC2 / Railway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4C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C&amp;D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11480" y="25420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F0ED"/>
                </a:solidFill>
              </a:rPr>
              <a:t>C&amp;D — Where Client and Developer Meet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3246120"/>
            <a:ext cx="137160" cy="1371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54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F0ED"/>
                </a:solidFill>
              </a:rPr>
              <a:t>Spring Boot 3.2 + Java 21 backend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657600"/>
            <a:ext cx="137160" cy="1371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661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F0ED"/>
                </a:solidFill>
              </a:rPr>
              <a:t>8-table MySQL schema, 16+ REST APIs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4069080"/>
            <a:ext cx="137160" cy="1371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77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F0ED"/>
                </a:solidFill>
              </a:rPr>
              <a:t>Dual-role UI — Client &amp; Developer flows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4480560"/>
            <a:ext cx="137160" cy="1371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89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F0ED"/>
                </a:solidFill>
              </a:rPr>
              <a:t>Real screenshots, tested end-to-end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66944" y="237744"/>
            <a:ext cx="3730752" cy="1536192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274320"/>
            <a:ext cx="3657600" cy="14630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266944" y="1883664"/>
            <a:ext cx="1856232" cy="1444752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920240"/>
            <a:ext cx="1783080" cy="13716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141464" y="1883664"/>
            <a:ext cx="1856232" cy="1444752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920240"/>
            <a:ext cx="1783080" cy="13716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266944" y="3392424"/>
            <a:ext cx="3730752" cy="1536192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429000"/>
            <a:ext cx="3657600" cy="14630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7377">
              <a:alpha val="50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PG-DAC Project  |  CDAC Delhi  |  February 2026  |  Guided by Prof. Pankaj Kumar Mahto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C&amp;D Platform — Where Client and Developer Meet</dc:title>
  <dc:subject>PptxGenJS Presentation</dc:subject>
  <dc:creator>CDAC PG-DAC Project</dc:creator>
  <cp:lastModifiedBy>CDAC PG-DAC Project</cp:lastModifiedBy>
  <cp:revision>1</cp:revision>
  <dcterms:created xsi:type="dcterms:W3CDTF">2026-02-23T04:06:37Z</dcterms:created>
  <dcterms:modified xsi:type="dcterms:W3CDTF">2026-02-23T04:06:37Z</dcterms:modified>
</cp:coreProperties>
</file>